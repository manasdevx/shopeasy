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0" r:id="rId1"/>
    <p:sldMasterId id="2147483671" r:id="rId2"/>
  </p:sldMasterIdLst>
  <p:notesMasterIdLst>
    <p:notesMasterId r:id="rId20"/>
  </p:notesMasterIdLst>
  <p:sldIdLst>
    <p:sldId id="257" r:id="rId3"/>
    <p:sldId id="258" r:id="rId4"/>
    <p:sldId id="259" r:id="rId5"/>
    <p:sldId id="260" r:id="rId6"/>
    <p:sldId id="261" r:id="rId7"/>
    <p:sldId id="262" r:id="rId8"/>
    <p:sldId id="271" r:id="rId9"/>
    <p:sldId id="264" r:id="rId10"/>
    <p:sldId id="265" r:id="rId11"/>
    <p:sldId id="270" r:id="rId12"/>
    <p:sldId id="274" r:id="rId13"/>
    <p:sldId id="276" r:id="rId14"/>
    <p:sldId id="275" r:id="rId15"/>
    <p:sldId id="272" r:id="rId16"/>
    <p:sldId id="266" r:id="rId17"/>
    <p:sldId id="267" r:id="rId18"/>
    <p:sldId id="269" r:id="rId19"/>
  </p:sldIdLst>
  <p:sldSz cx="9144000" cy="5143500" type="screen16x9"/>
  <p:notesSz cx="6858000" cy="9144000"/>
  <p:embeddedFontLst>
    <p:embeddedFont>
      <p:font typeface="Google Sans" panose="020B0604020202020204" charset="0"/>
      <p:regular r:id="rId21"/>
      <p:bold r:id="rId22"/>
      <p:italic r:id="rId23"/>
      <p:boldItalic r:id="rId2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3681" autoAdjust="0"/>
  </p:normalViewPr>
  <p:slideViewPr>
    <p:cSldViewPr snapToGrid="0">
      <p:cViewPr varScale="1">
        <p:scale>
          <a:sx n="97" d="100"/>
          <a:sy n="97" d="100"/>
        </p:scale>
        <p:origin x="1042" y="72"/>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viewProps" Target="viewProps.xml"/><Relationship Id="rId3" Type="http://schemas.openxmlformats.org/officeDocument/2006/relationships/slide" Target="slides/slide1.xml"/><Relationship Id="rId21" Type="http://schemas.openxmlformats.org/officeDocument/2006/relationships/font" Target="fonts/font1.fntdata"/><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font" Target="fonts/font4.fntdata"/><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font" Target="fonts/font3.fntdata"/><Relationship Id="rId28"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font" Target="fonts/font2.fntdata"/><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2571180861"/>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g3ad07014906_2_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4" name="Google Shape;104;g3ad07014906_2_5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36077628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g3ad07014906_2_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0" name="Google Shape;110;g3ad07014906_2_5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66059867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g3ad07014906_2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6" name="Google Shape;116;g3ad07014906_2_6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28362813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g3ad07014906_2_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2" name="Google Shape;122;g3ad07014906_2_6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11104078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3ad07014906_2_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8" name="Google Shape;128;g3ad07014906_2_9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364244921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g3ad07014906_2_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4" name="Google Shape;134;g3ad07014906_2_7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111031628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g3ad07014906_2_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4" name="Google Shape;134;g3ad07014906_2_7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40048727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g3ad07014906_2_8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6" name="Google Shape;146;g3ad07014906_2_8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145666492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g3ad07014906_2_1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2" name="Google Shape;152;g3ad07014906_2_10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40142973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86573827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g3ad07014906_2_1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8" name="Google Shape;158;g3ad07014906_2_11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237680662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g3ad07014906_2_1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4" name="Google Shape;164;g3ad07014906_2_12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277946125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g3ad07014906_2_1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5" name="Google Shape;175;g3ad07014906_2_13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38146530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54"/>
        <p:cNvGrpSpPr/>
        <p:nvPr/>
      </p:nvGrpSpPr>
      <p:grpSpPr>
        <a:xfrm>
          <a:off x="0" y="0"/>
          <a:ext cx="0" cy="0"/>
          <a:chOff x="0" y="0"/>
          <a:chExt cx="0" cy="0"/>
        </a:xfrm>
      </p:grpSpPr>
      <p:sp>
        <p:nvSpPr>
          <p:cNvPr id="55" name="Google Shape;55;p14"/>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56" name="Google Shape;56;p14"/>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57" name="Google Shape;57;p1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58"/>
        <p:cNvGrpSpPr/>
        <p:nvPr/>
      </p:nvGrpSpPr>
      <p:grpSpPr>
        <a:xfrm>
          <a:off x="0" y="0"/>
          <a:ext cx="0" cy="0"/>
          <a:chOff x="0" y="0"/>
          <a:chExt cx="0" cy="0"/>
        </a:xfrm>
      </p:grpSpPr>
      <p:sp>
        <p:nvSpPr>
          <p:cNvPr id="59" name="Google Shape;59;p15"/>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60" name="Google Shape;60;p1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61"/>
        <p:cNvGrpSpPr/>
        <p:nvPr/>
      </p:nvGrpSpPr>
      <p:grpSpPr>
        <a:xfrm>
          <a:off x="0" y="0"/>
          <a:ext cx="0" cy="0"/>
          <a:chOff x="0" y="0"/>
          <a:chExt cx="0" cy="0"/>
        </a:xfrm>
      </p:grpSpPr>
      <p:sp>
        <p:nvSpPr>
          <p:cNvPr id="62" name="Google Shape;62;p16"/>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63" name="Google Shape;63;p16"/>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64" name="Google Shape;64;p1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65"/>
        <p:cNvGrpSpPr/>
        <p:nvPr/>
      </p:nvGrpSpPr>
      <p:grpSpPr>
        <a:xfrm>
          <a:off x="0" y="0"/>
          <a:ext cx="0" cy="0"/>
          <a:chOff x="0" y="0"/>
          <a:chExt cx="0" cy="0"/>
        </a:xfrm>
      </p:grpSpPr>
      <p:sp>
        <p:nvSpPr>
          <p:cNvPr id="66" name="Google Shape;66;p17"/>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67" name="Google Shape;67;p17"/>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68" name="Google Shape;68;p17"/>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69" name="Google Shape;69;p1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70"/>
        <p:cNvGrpSpPr/>
        <p:nvPr/>
      </p:nvGrpSpPr>
      <p:grpSpPr>
        <a:xfrm>
          <a:off x="0" y="0"/>
          <a:ext cx="0" cy="0"/>
          <a:chOff x="0" y="0"/>
          <a:chExt cx="0" cy="0"/>
        </a:xfrm>
      </p:grpSpPr>
      <p:sp>
        <p:nvSpPr>
          <p:cNvPr id="71" name="Google Shape;71;p18"/>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72" name="Google Shape;72;p1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73"/>
        <p:cNvGrpSpPr/>
        <p:nvPr/>
      </p:nvGrpSpPr>
      <p:grpSpPr>
        <a:xfrm>
          <a:off x="0" y="0"/>
          <a:ext cx="0" cy="0"/>
          <a:chOff x="0" y="0"/>
          <a:chExt cx="0" cy="0"/>
        </a:xfrm>
      </p:grpSpPr>
      <p:sp>
        <p:nvSpPr>
          <p:cNvPr id="74" name="Google Shape;74;p19"/>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75" name="Google Shape;75;p19"/>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76" name="Google Shape;76;p1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77"/>
        <p:cNvGrpSpPr/>
        <p:nvPr/>
      </p:nvGrpSpPr>
      <p:grpSpPr>
        <a:xfrm>
          <a:off x="0" y="0"/>
          <a:ext cx="0" cy="0"/>
          <a:chOff x="0" y="0"/>
          <a:chExt cx="0" cy="0"/>
        </a:xfrm>
      </p:grpSpPr>
      <p:sp>
        <p:nvSpPr>
          <p:cNvPr id="78" name="Google Shape;78;p20"/>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79" name="Google Shape;79;p2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80"/>
        <p:cNvGrpSpPr/>
        <p:nvPr/>
      </p:nvGrpSpPr>
      <p:grpSpPr>
        <a:xfrm>
          <a:off x="0" y="0"/>
          <a:ext cx="0" cy="0"/>
          <a:chOff x="0" y="0"/>
          <a:chExt cx="0" cy="0"/>
        </a:xfrm>
      </p:grpSpPr>
      <p:sp>
        <p:nvSpPr>
          <p:cNvPr id="81" name="Google Shape;81;p21"/>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
        <p:nvSpPr>
          <p:cNvPr id="82" name="Google Shape;82;p21"/>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83" name="Google Shape;83;p21"/>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84" name="Google Shape;84;p21"/>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85" name="Google Shape;85;p2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dirty="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86"/>
        <p:cNvGrpSpPr/>
        <p:nvPr/>
      </p:nvGrpSpPr>
      <p:grpSpPr>
        <a:xfrm>
          <a:off x="0" y="0"/>
          <a:ext cx="0" cy="0"/>
          <a:chOff x="0" y="0"/>
          <a:chExt cx="0" cy="0"/>
        </a:xfrm>
      </p:grpSpPr>
      <p:sp>
        <p:nvSpPr>
          <p:cNvPr id="87" name="Google Shape;87;p22"/>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88" name="Google Shape;88;p2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dirty="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89"/>
        <p:cNvGrpSpPr/>
        <p:nvPr/>
      </p:nvGrpSpPr>
      <p:grpSpPr>
        <a:xfrm>
          <a:off x="0" y="0"/>
          <a:ext cx="0" cy="0"/>
          <a:chOff x="0" y="0"/>
          <a:chExt cx="0" cy="0"/>
        </a:xfrm>
      </p:grpSpPr>
      <p:sp>
        <p:nvSpPr>
          <p:cNvPr id="90" name="Google Shape;90;p23"/>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91" name="Google Shape;91;p23"/>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92" name="Google Shape;92;p2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theme" Target="../theme/theme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GB"/>
              <a:t>‹#›</a:t>
            </a:fld>
            <a:endParaRPr dirty="0"/>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52" name="Google Shape;52;p13"/>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53" name="Google Shape;53;p1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dirty="0"/>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2.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2.xml"/><Relationship Id="rId4" Type="http://schemas.openxmlformats.org/officeDocument/2006/relationships/image" Target="../media/image5.jpeg"/></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26"/>
          <p:cNvSpPr txBox="1"/>
          <p:nvPr/>
        </p:nvSpPr>
        <p:spPr>
          <a:xfrm>
            <a:off x="162600" y="3195125"/>
            <a:ext cx="8760000" cy="17010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1" i="0" u="none" strike="noStrike" cap="none" dirty="0">
                <a:solidFill>
                  <a:srgbClr val="434343"/>
                </a:solidFill>
                <a:latin typeface="Google Sans"/>
                <a:ea typeface="Google Sans"/>
                <a:cs typeface="Google Sans"/>
                <a:sym typeface="Google Sans"/>
              </a:rPr>
              <a:t>Team Details</a:t>
            </a:r>
            <a:endParaRPr sz="1800" b="1" i="0" u="none" strike="noStrike" cap="none" dirty="0">
              <a:solidFill>
                <a:srgbClr val="434343"/>
              </a:solidFill>
              <a:latin typeface="Google Sans"/>
              <a:ea typeface="Google Sans"/>
              <a:cs typeface="Google Sans"/>
              <a:sym typeface="Google Sans"/>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dirty="0">
              <a:solidFill>
                <a:srgbClr val="434343"/>
              </a:solidFill>
              <a:latin typeface="Google Sans"/>
              <a:ea typeface="Google Sans"/>
              <a:cs typeface="Google Sans"/>
              <a:sym typeface="Google Sans"/>
            </a:endParaRPr>
          </a:p>
          <a:p>
            <a:pPr marL="914400" marR="0" lvl="1" indent="-342900" algn="l" rtl="0">
              <a:lnSpc>
                <a:spcPct val="100000"/>
              </a:lnSpc>
              <a:spcBef>
                <a:spcPts val="0"/>
              </a:spcBef>
              <a:spcAft>
                <a:spcPts val="0"/>
              </a:spcAft>
              <a:buClr>
                <a:srgbClr val="434343"/>
              </a:buClr>
              <a:buSzPts val="1800"/>
              <a:buFont typeface="Google Sans"/>
              <a:buAutoNum type="alphaLcPeriod"/>
            </a:pPr>
            <a:r>
              <a:rPr lang="en-GB" sz="1800" b="1" i="0" u="none" strike="noStrike" cap="none" dirty="0">
                <a:solidFill>
                  <a:srgbClr val="434343"/>
                </a:solidFill>
                <a:latin typeface="Google Sans"/>
                <a:ea typeface="Google Sans"/>
                <a:cs typeface="Google Sans"/>
                <a:sym typeface="Google Sans"/>
              </a:rPr>
              <a:t>Team name</a:t>
            </a:r>
            <a:r>
              <a:rPr lang="en-GB" sz="1800" b="1" i="0" u="none" strike="noStrike" cap="none">
                <a:solidFill>
                  <a:srgbClr val="434343"/>
                </a:solidFill>
                <a:latin typeface="Google Sans"/>
                <a:ea typeface="Google Sans"/>
                <a:cs typeface="Google Sans"/>
                <a:sym typeface="Google Sans"/>
              </a:rPr>
              <a:t>: </a:t>
            </a:r>
            <a:r>
              <a:rPr lang="en-GB" sz="1800" b="1" i="0" u="none" strike="noStrike" cap="none" smtClean="0">
                <a:solidFill>
                  <a:srgbClr val="434343"/>
                </a:solidFill>
                <a:latin typeface="Google Sans"/>
                <a:ea typeface="Google Sans"/>
                <a:cs typeface="Google Sans"/>
                <a:sym typeface="Google Sans"/>
              </a:rPr>
              <a:t>Error </a:t>
            </a:r>
            <a:r>
              <a:rPr lang="en-GB" sz="1800" b="1" smtClean="0">
                <a:solidFill>
                  <a:srgbClr val="434343"/>
                </a:solidFill>
                <a:latin typeface="Google Sans"/>
                <a:ea typeface="Google Sans"/>
                <a:cs typeface="Google Sans"/>
                <a:sym typeface="Google Sans"/>
              </a:rPr>
              <a:t>404 </a:t>
            </a:r>
            <a:r>
              <a:rPr lang="en-GB" sz="1800" b="1" dirty="0" smtClean="0">
                <a:solidFill>
                  <a:srgbClr val="434343"/>
                </a:solidFill>
                <a:latin typeface="Google Sans"/>
                <a:ea typeface="Google Sans"/>
                <a:cs typeface="Google Sans"/>
                <a:sym typeface="Google Sans"/>
              </a:rPr>
              <a:t>Sleep Not Found</a:t>
            </a:r>
            <a:endParaRPr sz="1800" b="1" i="0" u="none" strike="noStrike" cap="none" dirty="0">
              <a:solidFill>
                <a:srgbClr val="434343"/>
              </a:solidFill>
              <a:latin typeface="Google Sans"/>
              <a:ea typeface="Google Sans"/>
              <a:cs typeface="Google Sans"/>
              <a:sym typeface="Google Sans"/>
            </a:endParaRPr>
          </a:p>
          <a:p>
            <a:pPr marL="914400" marR="0" lvl="1" indent="-342900" algn="l" rtl="0">
              <a:lnSpc>
                <a:spcPct val="100000"/>
              </a:lnSpc>
              <a:spcBef>
                <a:spcPts val="0"/>
              </a:spcBef>
              <a:spcAft>
                <a:spcPts val="0"/>
              </a:spcAft>
              <a:buClr>
                <a:srgbClr val="434343"/>
              </a:buClr>
              <a:buSzPts val="1800"/>
              <a:buFont typeface="Google Sans"/>
              <a:buAutoNum type="alphaLcPeriod"/>
            </a:pPr>
            <a:r>
              <a:rPr lang="en-GB" sz="1800" b="1" i="0" u="none" strike="noStrike" cap="none" dirty="0">
                <a:solidFill>
                  <a:srgbClr val="434343"/>
                </a:solidFill>
                <a:latin typeface="Google Sans"/>
                <a:ea typeface="Google Sans"/>
                <a:cs typeface="Google Sans"/>
                <a:sym typeface="Google Sans"/>
              </a:rPr>
              <a:t>Team leader name: </a:t>
            </a:r>
            <a:r>
              <a:rPr lang="en-GB" sz="1800" b="1" i="0" u="none" strike="noStrike" cap="none" dirty="0" smtClean="0">
                <a:solidFill>
                  <a:srgbClr val="434343"/>
                </a:solidFill>
                <a:latin typeface="Google Sans"/>
                <a:ea typeface="Google Sans"/>
                <a:cs typeface="Google Sans"/>
                <a:sym typeface="Google Sans"/>
              </a:rPr>
              <a:t>Manas Agnihotri</a:t>
            </a:r>
            <a:endParaRPr sz="1800" b="1" i="0" u="none" strike="noStrike" cap="none" dirty="0">
              <a:solidFill>
                <a:srgbClr val="434343"/>
              </a:solidFill>
              <a:latin typeface="Google Sans"/>
              <a:ea typeface="Google Sans"/>
              <a:cs typeface="Google Sans"/>
              <a:sym typeface="Google Sans"/>
            </a:endParaRPr>
          </a:p>
          <a:p>
            <a:pPr marL="914400" marR="0" lvl="1" indent="-342900" algn="l" rtl="0">
              <a:lnSpc>
                <a:spcPct val="100000"/>
              </a:lnSpc>
              <a:spcBef>
                <a:spcPts val="0"/>
              </a:spcBef>
              <a:spcAft>
                <a:spcPts val="0"/>
              </a:spcAft>
              <a:buClr>
                <a:srgbClr val="434343"/>
              </a:buClr>
              <a:buSzPts val="1800"/>
              <a:buFont typeface="Google Sans"/>
              <a:buAutoNum type="alphaLcPeriod"/>
            </a:pPr>
            <a:r>
              <a:rPr lang="en-GB" sz="1800" b="1" i="0" u="none" strike="noStrike" cap="none" dirty="0">
                <a:solidFill>
                  <a:srgbClr val="434343"/>
                </a:solidFill>
                <a:latin typeface="Google Sans"/>
                <a:ea typeface="Google Sans"/>
                <a:cs typeface="Google Sans"/>
                <a:sym typeface="Google Sans"/>
              </a:rPr>
              <a:t>Problem Statement: Open </a:t>
            </a:r>
            <a:r>
              <a:rPr lang="en-GB" sz="1800" b="1" i="0" u="none" strike="noStrike" cap="none" dirty="0" smtClean="0">
                <a:solidFill>
                  <a:srgbClr val="434343"/>
                </a:solidFill>
                <a:latin typeface="Google Sans"/>
                <a:ea typeface="Google Sans"/>
                <a:cs typeface="Google Sans"/>
                <a:sym typeface="Google Sans"/>
              </a:rPr>
              <a:t>Innovation</a:t>
            </a:r>
            <a:endParaRPr sz="1800" b="1" i="0" u="none" strike="noStrike" cap="none" dirty="0">
              <a:solidFill>
                <a:srgbClr val="434343"/>
              </a:solidFill>
              <a:latin typeface="Google Sans"/>
              <a:ea typeface="Google Sans"/>
              <a:cs typeface="Google Sans"/>
              <a:sym typeface="Google Sans"/>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dirty="0">
              <a:solidFill>
                <a:srgbClr val="000000"/>
              </a:solidFill>
              <a:latin typeface="Arial"/>
              <a:ea typeface="Arial"/>
              <a:cs typeface="Arial"/>
              <a:sym typeface="Arial"/>
            </a:endParaRPr>
          </a:p>
        </p:txBody>
      </p:sp>
      <p:pic>
        <p:nvPicPr>
          <p:cNvPr id="107" name="Google Shape;107;p26" title="Techsprint banner.png"/>
          <p:cNvPicPr preferRelativeResize="0"/>
          <p:nvPr/>
        </p:nvPicPr>
        <p:blipFill>
          <a:blip r:embed="rId3">
            <a:alphaModFix/>
          </a:blip>
          <a:stretch>
            <a:fillRect/>
          </a:stretch>
        </p:blipFill>
        <p:spPr>
          <a:xfrm>
            <a:off x="0" y="0"/>
            <a:ext cx="9085198" cy="3028399"/>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27"/>
          <p:cNvSpPr txBox="1"/>
          <p:nvPr/>
        </p:nvSpPr>
        <p:spPr>
          <a:xfrm>
            <a:off x="82658" y="625046"/>
            <a:ext cx="8943000" cy="5619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1" i="0" u="none" strike="noStrike" cap="none" dirty="0">
                <a:solidFill>
                  <a:srgbClr val="434343"/>
                </a:solidFill>
                <a:latin typeface="Google Sans"/>
                <a:ea typeface="Google Sans"/>
                <a:cs typeface="Google Sans"/>
                <a:sym typeface="Google Sans"/>
              </a:rPr>
              <a:t>Brief about your solution and problem st</a:t>
            </a:r>
            <a:r>
              <a:rPr lang="en-GB" sz="1800" b="1" dirty="0">
                <a:solidFill>
                  <a:srgbClr val="434343"/>
                </a:solidFill>
                <a:latin typeface="Google Sans"/>
                <a:ea typeface="Google Sans"/>
                <a:cs typeface="Google Sans"/>
                <a:sym typeface="Google Sans"/>
              </a:rPr>
              <a:t>atement </a:t>
            </a:r>
            <a:r>
              <a:rPr lang="en-GB" sz="1800" b="1" dirty="0" smtClean="0">
                <a:solidFill>
                  <a:srgbClr val="434343"/>
                </a:solidFill>
                <a:latin typeface="Google Sans"/>
                <a:ea typeface="Google Sans"/>
                <a:cs typeface="Google Sans"/>
                <a:sym typeface="Google Sans"/>
              </a:rPr>
              <a:t>addressing</a:t>
            </a:r>
          </a:p>
          <a:p>
            <a:pPr marL="0" marR="0" lvl="0" indent="0" algn="l" rtl="0">
              <a:lnSpc>
                <a:spcPct val="100000"/>
              </a:lnSpc>
              <a:spcBef>
                <a:spcPts val="0"/>
              </a:spcBef>
              <a:spcAft>
                <a:spcPts val="0"/>
              </a:spcAft>
              <a:buClr>
                <a:srgbClr val="000000"/>
              </a:buClr>
              <a:buSzPts val="1800"/>
              <a:buFont typeface="Arial"/>
              <a:buNone/>
            </a:pPr>
            <a:endParaRPr lang="en-US" sz="1800" b="1" i="0" u="none" strike="noStrike" cap="none" dirty="0" smtClean="0">
              <a:solidFill>
                <a:srgbClr val="434343"/>
              </a:solidFill>
              <a:latin typeface="Google Sans"/>
              <a:ea typeface="Google Sans"/>
              <a:cs typeface="Google Sans"/>
              <a:sym typeface="Google Sans"/>
            </a:endParaRPr>
          </a:p>
          <a:p>
            <a:r>
              <a:rPr lang="en-US" sz="1800" b="1" dirty="0"/>
              <a:t>1. The "Complexity Gap" for Buyers</a:t>
            </a:r>
          </a:p>
          <a:p>
            <a:r>
              <a:rPr lang="en-US" sz="1800" dirty="0"/>
              <a:t>Most modern e-commerce platforms are cluttered with overwhelming ads and complicated multi-step checkouts. This makes it difficult for </a:t>
            </a:r>
            <a:r>
              <a:rPr lang="en-US" sz="1800" b="1" dirty="0"/>
              <a:t>low-educated or non-tech-savvy users</a:t>
            </a:r>
            <a:r>
              <a:rPr lang="en-US" sz="1800" dirty="0"/>
              <a:t> to navigate, leading to frustration and abandoned purchases.</a:t>
            </a:r>
          </a:p>
          <a:p>
            <a:r>
              <a:rPr lang="en-US" sz="1800" b="1" dirty="0"/>
              <a:t>2. The "Technical Burden" for Local Sellers</a:t>
            </a:r>
          </a:p>
          <a:p>
            <a:r>
              <a:rPr lang="en-US" sz="1800" dirty="0"/>
              <a:t>Small-scale merchants often struggle with "Management Fatigue". Existing tools for inventory tracking and order processing are often too complex, requiring sellers to spend more time on paperwork than on their actual products.</a:t>
            </a:r>
          </a:p>
          <a:p>
            <a:r>
              <a:rPr lang="en-US" sz="1800" b="1" dirty="0"/>
              <a:t>3. Performance &amp; Security Anxiety</a:t>
            </a:r>
          </a:p>
          <a:p>
            <a:r>
              <a:rPr lang="en-US" sz="1800" b="1" dirty="0"/>
              <a:t>Performance Lag:</a:t>
            </a:r>
            <a:r>
              <a:rPr lang="en-US" sz="1800" dirty="0"/>
              <a:t> Slow interface feedback during shopping (like updating a cart) makes the platform feel unreliable.</a:t>
            </a:r>
          </a:p>
          <a:p>
            <a:r>
              <a:rPr lang="en-US" sz="1800" b="1" dirty="0"/>
              <a:t>Payment Fears:</a:t>
            </a:r>
            <a:r>
              <a:rPr lang="en-US" sz="1800" dirty="0"/>
              <a:t> Users often abandon carts because they find the payment process confusing or worry that their passwords and financial data are not handled securely.</a:t>
            </a:r>
          </a:p>
          <a:p>
            <a:pPr marL="0" marR="0" lvl="0" indent="0" algn="l" rtl="0">
              <a:lnSpc>
                <a:spcPct val="100000"/>
              </a:lnSpc>
              <a:spcBef>
                <a:spcPts val="0"/>
              </a:spcBef>
              <a:spcAft>
                <a:spcPts val="0"/>
              </a:spcAft>
              <a:buClr>
                <a:srgbClr val="000000"/>
              </a:buClr>
              <a:buSzPts val="1800"/>
              <a:buFont typeface="Arial"/>
              <a:buNone/>
            </a:pPr>
            <a:endParaRPr sz="1800" b="1" i="0" u="none" strike="noStrike" cap="none" dirty="0">
              <a:solidFill>
                <a:srgbClr val="434343"/>
              </a:solidFill>
              <a:latin typeface="Google Sans"/>
              <a:ea typeface="Google Sans"/>
              <a:cs typeface="Google Sans"/>
              <a:sym typeface="Google Sans"/>
            </a:endParaRPr>
          </a:p>
        </p:txBody>
      </p:sp>
      <p:pic>
        <p:nvPicPr>
          <p:cNvPr id="113" name="Google Shape;113;p27" title="Group 2200185.png"/>
          <p:cNvPicPr preferRelativeResize="0"/>
          <p:nvPr/>
        </p:nvPicPr>
        <p:blipFill>
          <a:blip r:embed="rId3">
            <a:alphaModFix/>
          </a:blip>
          <a:stretch>
            <a:fillRect/>
          </a:stretch>
        </p:blipFill>
        <p:spPr>
          <a:xfrm>
            <a:off x="159800" y="174175"/>
            <a:ext cx="1826526" cy="32742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18" name="Google Shape;118;p28"/>
          <p:cNvSpPr txBox="1"/>
          <p:nvPr/>
        </p:nvSpPr>
        <p:spPr>
          <a:xfrm>
            <a:off x="159800" y="501600"/>
            <a:ext cx="8784300" cy="14193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1800"/>
              <a:buFont typeface="Arial"/>
              <a:buNone/>
            </a:pPr>
            <a:r>
              <a:rPr lang="en-GB" sz="1200" b="1" i="0" u="none" strike="noStrike" cap="none" dirty="0">
                <a:solidFill>
                  <a:srgbClr val="434343"/>
                </a:solidFill>
                <a:latin typeface="Google Sans"/>
                <a:ea typeface="Google Sans"/>
                <a:cs typeface="Google Sans"/>
                <a:sym typeface="Google Sans"/>
              </a:rPr>
              <a:t>Opportunities</a:t>
            </a:r>
            <a:endParaRPr sz="1200" b="1" i="0" u="none" strike="noStrike" cap="none" dirty="0">
              <a:solidFill>
                <a:srgbClr val="434343"/>
              </a:solidFill>
              <a:latin typeface="Google Sans"/>
              <a:ea typeface="Google Sans"/>
              <a:cs typeface="Google Sans"/>
              <a:sym typeface="Google Sans"/>
            </a:endParaRPr>
          </a:p>
          <a:p>
            <a:pPr marL="914400" marR="0" lvl="1" indent="-342900" algn="l" rtl="0">
              <a:lnSpc>
                <a:spcPct val="115000"/>
              </a:lnSpc>
              <a:spcBef>
                <a:spcPts val="0"/>
              </a:spcBef>
              <a:spcAft>
                <a:spcPts val="0"/>
              </a:spcAft>
              <a:buClr>
                <a:srgbClr val="434343"/>
              </a:buClr>
              <a:buSzPts val="1800"/>
              <a:buFont typeface="Google Sans"/>
              <a:buAutoNum type="alphaLcPeriod"/>
            </a:pPr>
            <a:r>
              <a:rPr lang="en-GB" sz="1200" i="0" u="none" strike="noStrike" cap="none" dirty="0">
                <a:solidFill>
                  <a:srgbClr val="434343"/>
                </a:solidFill>
                <a:latin typeface="Google Sans"/>
                <a:ea typeface="Google Sans"/>
                <a:cs typeface="Google Sans"/>
                <a:sym typeface="Google Sans"/>
              </a:rPr>
              <a:t>How different is it from any of the other existing ideas?</a:t>
            </a:r>
            <a:endParaRPr sz="1200" i="0" u="none" strike="noStrike" cap="none" dirty="0">
              <a:solidFill>
                <a:srgbClr val="434343"/>
              </a:solidFill>
              <a:latin typeface="Google Sans"/>
              <a:ea typeface="Google Sans"/>
              <a:cs typeface="Google Sans"/>
              <a:sym typeface="Google Sans"/>
            </a:endParaRPr>
          </a:p>
          <a:p>
            <a:pPr marL="914400" marR="0" lvl="1" indent="-342900" algn="l" rtl="0">
              <a:lnSpc>
                <a:spcPct val="115000"/>
              </a:lnSpc>
              <a:spcBef>
                <a:spcPts val="0"/>
              </a:spcBef>
              <a:spcAft>
                <a:spcPts val="0"/>
              </a:spcAft>
              <a:buClr>
                <a:srgbClr val="434343"/>
              </a:buClr>
              <a:buSzPts val="1800"/>
              <a:buFont typeface="Google Sans"/>
              <a:buAutoNum type="alphaLcPeriod"/>
            </a:pPr>
            <a:r>
              <a:rPr lang="en-GB" sz="1200" i="0" u="none" strike="noStrike" cap="none" dirty="0">
                <a:solidFill>
                  <a:srgbClr val="434343"/>
                </a:solidFill>
                <a:latin typeface="Google Sans"/>
                <a:ea typeface="Google Sans"/>
                <a:cs typeface="Google Sans"/>
                <a:sym typeface="Google Sans"/>
              </a:rPr>
              <a:t>How will it be able to solve the </a:t>
            </a:r>
            <a:r>
              <a:rPr lang="en-GB" sz="1200" i="0" u="none" strike="noStrike" cap="none" dirty="0" smtClean="0">
                <a:solidFill>
                  <a:srgbClr val="434343"/>
                </a:solidFill>
                <a:latin typeface="Google Sans"/>
                <a:ea typeface="Google Sans"/>
                <a:cs typeface="Google Sans"/>
                <a:sym typeface="Google Sans"/>
              </a:rPr>
              <a:t>problem?</a:t>
            </a:r>
            <a:endParaRPr lang="en-GB" sz="1600" dirty="0" smtClean="0">
              <a:solidFill>
                <a:srgbClr val="434343"/>
              </a:solidFill>
              <a:latin typeface="Google Sans"/>
              <a:ea typeface="Google Sans"/>
              <a:cs typeface="Google Sans"/>
              <a:sym typeface="Google Sans"/>
            </a:endParaRPr>
          </a:p>
          <a:p>
            <a:r>
              <a:rPr lang="en-US" sz="1600" b="1" dirty="0" smtClean="0"/>
              <a:t>1</a:t>
            </a:r>
            <a:r>
              <a:rPr lang="en-US" sz="1600" b="1" dirty="0"/>
              <a:t>. Intuitive Shopping for Everyone</a:t>
            </a:r>
          </a:p>
          <a:p>
            <a:r>
              <a:rPr lang="en-US" sz="1600" dirty="0"/>
              <a:t>The buying process is designed with a </a:t>
            </a:r>
            <a:r>
              <a:rPr lang="en-US" sz="1600" b="1" dirty="0"/>
              <a:t>"Visual-First" approach</a:t>
            </a:r>
            <a:r>
              <a:rPr lang="en-US" sz="1600" dirty="0"/>
              <a:t>, using clear icons, color-coded buttons, and a simple step-by-step checkout that allows even a user with minimal technical knowledge or low education to complete a purchase easily.</a:t>
            </a:r>
          </a:p>
          <a:p>
            <a:r>
              <a:rPr lang="en-US" sz="1600" b="1" dirty="0"/>
              <a:t>2. Effortless Seller Management</a:t>
            </a:r>
          </a:p>
          <a:p>
            <a:r>
              <a:rPr lang="en-US" sz="1600" dirty="0"/>
              <a:t>Sellers can handle their entire business in a few clicks through an </a:t>
            </a:r>
            <a:r>
              <a:rPr lang="en-US" sz="1600" b="1" dirty="0"/>
              <a:t>all-in-one dashboard</a:t>
            </a:r>
            <a:r>
              <a:rPr lang="en-US" sz="1600" dirty="0"/>
              <a:t> that makes adding new products, tracking stock levels, and processing incoming orders as simple as using a social media app.</a:t>
            </a:r>
          </a:p>
          <a:p>
            <a:r>
              <a:rPr lang="en-US" sz="1600" b="1" dirty="0"/>
              <a:t>3. Secure Payments &amp; Data Privacy</a:t>
            </a:r>
          </a:p>
          <a:p>
            <a:r>
              <a:rPr lang="en-US" sz="1600" dirty="0"/>
              <a:t>ShopEasy offers a </a:t>
            </a:r>
            <a:r>
              <a:rPr lang="en-US" sz="1600" b="1" dirty="0"/>
              <a:t>one-touch payment experience</a:t>
            </a:r>
            <a:r>
              <a:rPr lang="en-US" sz="1600" dirty="0"/>
              <a:t> with multiple secure options, protected by advanced encryption that keeps user passwords and personal data safe from unauthorized access</a:t>
            </a:r>
            <a:r>
              <a:rPr lang="en-US" sz="1600" dirty="0" smtClean="0"/>
              <a:t>.</a:t>
            </a:r>
          </a:p>
          <a:p>
            <a:r>
              <a:rPr lang="en-US" sz="1600" b="1" dirty="0" smtClean="0"/>
              <a:t>4. </a:t>
            </a:r>
            <a:r>
              <a:rPr lang="en-US" sz="1600" b="1" dirty="0" err="1" smtClean="0"/>
              <a:t>Chatbot</a:t>
            </a:r>
            <a:r>
              <a:rPr lang="en-US" sz="1600" dirty="0" smtClean="0"/>
              <a:t/>
            </a:r>
            <a:br>
              <a:rPr lang="en-US" sz="1600" dirty="0" smtClean="0"/>
            </a:br>
            <a:r>
              <a:rPr lang="en-US" sz="1600" dirty="0" err="1" smtClean="0"/>
              <a:t>ShopEasy</a:t>
            </a:r>
            <a:r>
              <a:rPr lang="en-US" sz="1600" dirty="0" smtClean="0"/>
              <a:t> includes a </a:t>
            </a:r>
            <a:r>
              <a:rPr lang="en-US" sz="1600" dirty="0" err="1" smtClean="0"/>
              <a:t>chatbot</a:t>
            </a:r>
            <a:r>
              <a:rPr lang="en-US" sz="1600" dirty="0" smtClean="0"/>
              <a:t> that helps users find the right products instantly. Discover items faster without manually searching or filtering.</a:t>
            </a:r>
            <a:endParaRPr lang="en-US" sz="1600" dirty="0"/>
          </a:p>
          <a:p>
            <a:pPr marL="571500" marR="0" lvl="1" algn="l" rtl="0">
              <a:lnSpc>
                <a:spcPct val="115000"/>
              </a:lnSpc>
              <a:spcBef>
                <a:spcPts val="0"/>
              </a:spcBef>
              <a:spcAft>
                <a:spcPts val="0"/>
              </a:spcAft>
              <a:buClr>
                <a:srgbClr val="434343"/>
              </a:buClr>
              <a:buSzPts val="1800"/>
            </a:pPr>
            <a:endParaRPr lang="en-GB" sz="1800" dirty="0">
              <a:solidFill>
                <a:srgbClr val="434343"/>
              </a:solidFill>
              <a:latin typeface="Google Sans"/>
              <a:ea typeface="Google Sans"/>
              <a:cs typeface="Google Sans"/>
              <a:sym typeface="Google Sans"/>
            </a:endParaRPr>
          </a:p>
        </p:txBody>
      </p:sp>
      <p:pic>
        <p:nvPicPr>
          <p:cNvPr id="119" name="Google Shape;119;p28" title="Group 2200185.png"/>
          <p:cNvPicPr preferRelativeResize="0"/>
          <p:nvPr/>
        </p:nvPicPr>
        <p:blipFill>
          <a:blip r:embed="rId3">
            <a:alphaModFix/>
          </a:blip>
          <a:stretch>
            <a:fillRect/>
          </a:stretch>
        </p:blipFill>
        <p:spPr>
          <a:xfrm>
            <a:off x="159800" y="174175"/>
            <a:ext cx="1826526" cy="3274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4" name="Google Shape;124;p29"/>
          <p:cNvSpPr txBox="1"/>
          <p:nvPr/>
        </p:nvSpPr>
        <p:spPr>
          <a:xfrm>
            <a:off x="159800" y="325465"/>
            <a:ext cx="8698800" cy="348711"/>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GB" b="1" i="0" u="none" strike="noStrike" cap="none" dirty="0" smtClean="0">
                <a:solidFill>
                  <a:srgbClr val="434343"/>
                </a:solidFill>
                <a:latin typeface="Google Sans"/>
                <a:ea typeface="Google Sans"/>
                <a:cs typeface="Google Sans"/>
                <a:sym typeface="Google Sans"/>
              </a:rPr>
              <a:t>List of features offered by the solution</a:t>
            </a:r>
          </a:p>
          <a:p>
            <a:pPr marL="0" marR="0" lvl="0" indent="0" algn="l" rtl="0">
              <a:lnSpc>
                <a:spcPct val="100000"/>
              </a:lnSpc>
              <a:spcBef>
                <a:spcPts val="0"/>
              </a:spcBef>
              <a:spcAft>
                <a:spcPts val="0"/>
              </a:spcAft>
              <a:buClr>
                <a:srgbClr val="000000"/>
              </a:buClr>
              <a:buSzPts val="1800"/>
              <a:buFont typeface="Arial"/>
              <a:buNone/>
            </a:pPr>
            <a:r>
              <a:rPr lang="en-US" sz="1500" b="1" dirty="0" smtClean="0"/>
              <a:t>1</a:t>
            </a:r>
            <a:r>
              <a:rPr lang="en-US" sz="1500" b="1" dirty="0"/>
              <a:t>. High-Speed Performance with Redis Caching</a:t>
            </a:r>
          </a:p>
          <a:p>
            <a:r>
              <a:rPr lang="en-US" sz="1500" b="1" dirty="0"/>
              <a:t>Instant Data Retrieval:</a:t>
            </a:r>
            <a:r>
              <a:rPr lang="en-US" sz="1500" dirty="0"/>
              <a:t> Integrated </a:t>
            </a:r>
            <a:r>
              <a:rPr lang="en-US" sz="1500" b="1" dirty="0"/>
              <a:t>Redis Caching</a:t>
            </a:r>
            <a:r>
              <a:rPr lang="en-US" sz="1500" dirty="0"/>
              <a:t> to store frequently accessed data, drastically reducing database load and server response times.</a:t>
            </a:r>
          </a:p>
          <a:p>
            <a:r>
              <a:rPr lang="en-US" sz="1500" b="1" dirty="0"/>
              <a:t>Eliminating Lag:</a:t>
            </a:r>
            <a:r>
              <a:rPr lang="en-US" sz="1500" dirty="0"/>
              <a:t> By caching product details and user sessions, we ensure the website remains lightning-fast even during high traffic</a:t>
            </a:r>
            <a:r>
              <a:rPr lang="en-US" sz="1500" dirty="0" smtClean="0"/>
              <a:t>.</a:t>
            </a:r>
          </a:p>
          <a:p>
            <a:r>
              <a:rPr lang="en-US" sz="1500" b="1" dirty="0"/>
              <a:t>2. Effortless Seller Empowerment with Real-Time Control</a:t>
            </a:r>
            <a:r>
              <a:rPr lang="en-US" sz="1500" dirty="0"/>
              <a:t/>
            </a:r>
            <a:br>
              <a:rPr lang="en-US" sz="1500" dirty="0"/>
            </a:br>
            <a:r>
              <a:rPr lang="en-US" sz="1500" b="1" dirty="0"/>
              <a:t>Unified Seller Dashboard:</a:t>
            </a:r>
            <a:r>
              <a:rPr lang="en-US" sz="1500" dirty="0"/>
              <a:t> Designed a streamlined control center where sellers can view their entire business—orders, inventory, and performance—at a glance without complex menus.</a:t>
            </a:r>
            <a:br>
              <a:rPr lang="en-US" sz="1500" dirty="0"/>
            </a:br>
            <a:r>
              <a:rPr lang="en-US" sz="1500" b="1" dirty="0"/>
              <a:t>One-Click &amp; Real-Time Management:</a:t>
            </a:r>
            <a:r>
              <a:rPr lang="en-US" sz="1500" dirty="0"/>
              <a:t> Inventory updates, product listings, and order tracking are handled through simple toggles and forms, with </a:t>
            </a:r>
            <a:r>
              <a:rPr lang="en-US" sz="1500" b="1" dirty="0"/>
              <a:t>Socket.IO enabling live order notifications and status updates</a:t>
            </a:r>
            <a:r>
              <a:rPr lang="en-US" sz="1500" dirty="0"/>
              <a:t> so sellers receive instant information without manual page refreshes</a:t>
            </a:r>
            <a:r>
              <a:rPr lang="en-US" sz="1500" dirty="0" smtClean="0"/>
              <a:t>.</a:t>
            </a:r>
          </a:p>
          <a:p>
            <a:r>
              <a:rPr lang="en-US" sz="1500" b="1" dirty="0" smtClean="0"/>
              <a:t>3. </a:t>
            </a:r>
            <a:r>
              <a:rPr lang="en-US" sz="1500" b="1" dirty="0"/>
              <a:t>Smart Recommendations with User Behavior Analysis</a:t>
            </a:r>
            <a:r>
              <a:rPr lang="en-US" sz="1500" dirty="0"/>
              <a:t/>
            </a:r>
            <a:br>
              <a:rPr lang="en-US" sz="1500" dirty="0"/>
            </a:br>
            <a:r>
              <a:rPr lang="en-US" sz="1500" dirty="0"/>
              <a:t>Personalized Discovery: The platform intelligently analyzes user search history and browsing patterns to recommend relevant products tailored to individual preferences.</a:t>
            </a:r>
          </a:p>
          <a:p>
            <a:pPr lvl="0">
              <a:buSzPts val="1800"/>
            </a:pPr>
            <a:r>
              <a:rPr lang="en-US" sz="1500" b="1" dirty="0" smtClean="0"/>
              <a:t>4. </a:t>
            </a:r>
            <a:r>
              <a:rPr lang="en-US" sz="1500" b="1" dirty="0" smtClean="0"/>
              <a:t>Shopping </a:t>
            </a:r>
            <a:r>
              <a:rPr lang="en-US" sz="1500" b="1" dirty="0"/>
              <a:t>Assistant</a:t>
            </a:r>
            <a:r>
              <a:rPr lang="en-US" sz="1500" dirty="0"/>
              <a:t/>
            </a:r>
            <a:br>
              <a:rPr lang="en-US" sz="1500" dirty="0"/>
            </a:br>
            <a:r>
              <a:rPr lang="en-US" sz="1500" dirty="0" smtClean="0"/>
              <a:t>Product </a:t>
            </a:r>
            <a:r>
              <a:rPr lang="en-US" sz="1500" dirty="0"/>
              <a:t>Search: An </a:t>
            </a:r>
            <a:r>
              <a:rPr lang="en-US" sz="1500" dirty="0" smtClean="0"/>
              <a:t>integrated </a:t>
            </a:r>
            <a:r>
              <a:rPr lang="en-US" sz="1500" dirty="0"/>
              <a:t>chatbot allows users to find products using </a:t>
            </a:r>
            <a:r>
              <a:rPr lang="en-US" sz="1500" dirty="0" smtClean="0"/>
              <a:t>instead </a:t>
            </a:r>
            <a:r>
              <a:rPr lang="en-US" sz="1500" dirty="0"/>
              <a:t>of manual searching or filtering.</a:t>
            </a:r>
            <a:br>
              <a:rPr lang="en-US" sz="1500" dirty="0"/>
            </a:br>
            <a:r>
              <a:rPr lang="en-US" dirty="0"/>
              <a:t>Guided Buying Experience: The chatbot assists users with product comparisons, suggestions, and quick answers, reducing decision fatigue and saving time.</a:t>
            </a:r>
            <a:endParaRPr b="1" i="0" u="none" strike="noStrike" cap="none" dirty="0">
              <a:solidFill>
                <a:srgbClr val="434343"/>
              </a:solidFill>
              <a:latin typeface="Google Sans"/>
              <a:ea typeface="Google Sans"/>
              <a:cs typeface="Google Sans"/>
              <a:sym typeface="Google Sans"/>
            </a:endParaRPr>
          </a:p>
        </p:txBody>
      </p:sp>
      <p:pic>
        <p:nvPicPr>
          <p:cNvPr id="125" name="Google Shape;125;p29" title="Group 2200185.png"/>
          <p:cNvPicPr preferRelativeResize="0"/>
          <p:nvPr/>
        </p:nvPicPr>
        <p:blipFill>
          <a:blip r:embed="rId3">
            <a:alphaModFix/>
          </a:blip>
          <a:stretch>
            <a:fillRect/>
          </a:stretch>
        </p:blipFill>
        <p:spPr>
          <a:xfrm>
            <a:off x="159800" y="60033"/>
            <a:ext cx="1826526" cy="3274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0" name="Google Shape;130;p30"/>
          <p:cNvSpPr txBox="1"/>
          <p:nvPr/>
        </p:nvSpPr>
        <p:spPr>
          <a:xfrm>
            <a:off x="158825" y="855225"/>
            <a:ext cx="8784300" cy="11283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1" dirty="0">
                <a:solidFill>
                  <a:srgbClr val="434343"/>
                </a:solidFill>
                <a:latin typeface="Google Sans"/>
                <a:ea typeface="Google Sans"/>
                <a:cs typeface="Google Sans"/>
                <a:sym typeface="Google Sans"/>
              </a:rPr>
              <a:t>Google </a:t>
            </a:r>
            <a:r>
              <a:rPr lang="en-GB" sz="1800" b="1" i="0" u="none" strike="noStrike" cap="none" dirty="0">
                <a:solidFill>
                  <a:srgbClr val="434343"/>
                </a:solidFill>
                <a:latin typeface="Google Sans"/>
                <a:ea typeface="Google Sans"/>
                <a:cs typeface="Google Sans"/>
                <a:sym typeface="Google Sans"/>
              </a:rPr>
              <a:t>Technologies used in the </a:t>
            </a:r>
            <a:r>
              <a:rPr lang="en-GB" sz="1800" b="1" i="0" u="none" strike="noStrike" cap="none" dirty="0" smtClean="0">
                <a:solidFill>
                  <a:srgbClr val="434343"/>
                </a:solidFill>
                <a:latin typeface="Google Sans"/>
                <a:ea typeface="Google Sans"/>
                <a:cs typeface="Google Sans"/>
                <a:sym typeface="Google Sans"/>
              </a:rPr>
              <a:t>solution</a:t>
            </a:r>
            <a:endParaRPr lang="en-GB" sz="1800" b="1" dirty="0" smtClean="0">
              <a:solidFill>
                <a:srgbClr val="434343"/>
              </a:solidFill>
              <a:latin typeface="Google Sans"/>
              <a:ea typeface="Google Sans"/>
              <a:cs typeface="Google Sans"/>
              <a:sym typeface="Google Sans"/>
            </a:endParaRPr>
          </a:p>
          <a:p>
            <a:pPr marL="0" marR="0" lvl="0" indent="0" algn="l" rtl="0">
              <a:lnSpc>
                <a:spcPct val="100000"/>
              </a:lnSpc>
              <a:spcBef>
                <a:spcPts val="0"/>
              </a:spcBef>
              <a:spcAft>
                <a:spcPts val="0"/>
              </a:spcAft>
              <a:buClr>
                <a:srgbClr val="000000"/>
              </a:buClr>
              <a:buSzPts val="1800"/>
              <a:buFont typeface="Arial"/>
              <a:buNone/>
            </a:pPr>
            <a:endParaRPr lang="en-GB" sz="1800" b="1" i="0" u="none" strike="noStrike" cap="none" dirty="0">
              <a:solidFill>
                <a:srgbClr val="434343"/>
              </a:solidFill>
              <a:latin typeface="Google Sans"/>
              <a:ea typeface="Google Sans"/>
              <a:cs typeface="Google Sans"/>
              <a:sym typeface="Google Sans"/>
            </a:endParaRPr>
          </a:p>
          <a:p>
            <a:r>
              <a:rPr lang="en-US" sz="1800" b="1" dirty="0"/>
              <a:t>1. Google Authentication (Identity Platform)</a:t>
            </a:r>
          </a:p>
          <a:p>
            <a:r>
              <a:rPr lang="en-US" sz="1800" b="1" dirty="0"/>
              <a:t>One-Tap Access:</a:t>
            </a:r>
            <a:r>
              <a:rPr lang="en-US" sz="1800" dirty="0"/>
              <a:t> Integrated </a:t>
            </a:r>
            <a:r>
              <a:rPr lang="en-US" sz="1800" b="1" dirty="0"/>
              <a:t>Google Auth</a:t>
            </a:r>
            <a:r>
              <a:rPr lang="en-US" sz="1800" dirty="0"/>
              <a:t> to allow users to sign up or log in with a single click, removing the friction of remembering new passwords.</a:t>
            </a:r>
          </a:p>
          <a:p>
            <a:r>
              <a:rPr lang="en-US" sz="1800" b="1" dirty="0"/>
              <a:t>Trusted Security:</a:t>
            </a:r>
            <a:r>
              <a:rPr lang="en-US" sz="1800" dirty="0"/>
              <a:t> Leverages Google’s enterprise-grade security protocols to ensure user accounts are protected against unauthorized access</a:t>
            </a:r>
            <a:r>
              <a:rPr lang="en-US" sz="1800" dirty="0" smtClean="0"/>
              <a:t>.</a:t>
            </a:r>
          </a:p>
          <a:p>
            <a:endParaRPr lang="en-US" sz="1800" dirty="0"/>
          </a:p>
          <a:p>
            <a:r>
              <a:rPr lang="en-US" sz="1800" b="1" dirty="0"/>
              <a:t>2. Google Maps API for Location-Based Checkout</a:t>
            </a:r>
            <a:r>
              <a:rPr lang="en-US" sz="1800" dirty="0"/>
              <a:t/>
            </a:r>
            <a:br>
              <a:rPr lang="en-US" sz="1800" dirty="0"/>
            </a:br>
            <a:r>
              <a:rPr lang="en-US" sz="1800" b="1" dirty="0"/>
              <a:t>Accurate Address Detection:</a:t>
            </a:r>
            <a:r>
              <a:rPr lang="en-US" sz="1800" dirty="0"/>
              <a:t> Integrated the Google Maps API to fetch precise user location and convert coordinates into a readable delivery address during checkout.</a:t>
            </a:r>
            <a:br>
              <a:rPr lang="en-US" sz="1800" dirty="0"/>
            </a:br>
            <a:r>
              <a:rPr lang="en-US" sz="1800" b="1" dirty="0"/>
              <a:t>Faster &amp; Error-Free Ordering:</a:t>
            </a:r>
            <a:r>
              <a:rPr lang="en-US" sz="1800" dirty="0"/>
              <a:t> With a single “Use my current location” action, users can auto-fill address details, reducing manual input, minimizing errors, and speeding up the overall ShopEasy checkout experience</a:t>
            </a:r>
            <a:r>
              <a:rPr lang="en-US" sz="1800" dirty="0" smtClean="0"/>
              <a:t>..</a:t>
            </a:r>
            <a:endParaRPr lang="en-US" sz="1800" dirty="0"/>
          </a:p>
          <a:p>
            <a:pPr marL="0" marR="0" lvl="0" indent="0" algn="l" rtl="0">
              <a:lnSpc>
                <a:spcPct val="100000"/>
              </a:lnSpc>
              <a:spcBef>
                <a:spcPts val="0"/>
              </a:spcBef>
              <a:spcAft>
                <a:spcPts val="0"/>
              </a:spcAft>
              <a:buClr>
                <a:srgbClr val="000000"/>
              </a:buClr>
              <a:buSzPts val="1800"/>
              <a:buFont typeface="Arial"/>
              <a:buNone/>
            </a:pPr>
            <a:endParaRPr lang="en-GB" sz="1800" b="1" i="0" u="none" strike="noStrike" cap="none" dirty="0" smtClean="0">
              <a:solidFill>
                <a:srgbClr val="434343"/>
              </a:solidFill>
              <a:latin typeface="Google Sans"/>
              <a:ea typeface="Google Sans"/>
              <a:cs typeface="Google Sans"/>
              <a:sym typeface="Google Sans"/>
            </a:endParaRPr>
          </a:p>
        </p:txBody>
      </p:sp>
      <p:pic>
        <p:nvPicPr>
          <p:cNvPr id="131" name="Google Shape;131;p30" title="Group 2200185.png"/>
          <p:cNvPicPr preferRelativeResize="0"/>
          <p:nvPr/>
        </p:nvPicPr>
        <p:blipFill>
          <a:blip r:embed="rId3">
            <a:alphaModFix/>
          </a:blip>
          <a:stretch>
            <a:fillRect/>
          </a:stretch>
        </p:blipFill>
        <p:spPr>
          <a:xfrm>
            <a:off x="159800" y="174175"/>
            <a:ext cx="1826526" cy="3274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Google Shape;136;p31"/>
          <p:cNvSpPr txBox="1"/>
          <p:nvPr/>
        </p:nvSpPr>
        <p:spPr>
          <a:xfrm>
            <a:off x="155575" y="288872"/>
            <a:ext cx="8772000" cy="5130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1" i="0" u="none" strike="noStrike" cap="none" dirty="0">
                <a:solidFill>
                  <a:srgbClr val="434343"/>
                </a:solidFill>
                <a:latin typeface="Google Sans"/>
                <a:ea typeface="Google Sans"/>
                <a:cs typeface="Google Sans"/>
                <a:sym typeface="Google Sans"/>
              </a:rPr>
              <a:t>Process flow diagram or Use-case diagram</a:t>
            </a:r>
            <a:endParaRPr sz="1800" b="1" i="0" u="none" strike="noStrike" cap="none" dirty="0">
              <a:solidFill>
                <a:srgbClr val="434343"/>
              </a:solidFill>
              <a:latin typeface="Google Sans"/>
              <a:ea typeface="Google Sans"/>
              <a:cs typeface="Google Sans"/>
              <a:sym typeface="Google Sans"/>
            </a:endParaRPr>
          </a:p>
        </p:txBody>
      </p:sp>
      <p:pic>
        <p:nvPicPr>
          <p:cNvPr id="137" name="Google Shape;137;p31" title="Group 2200185.png"/>
          <p:cNvPicPr preferRelativeResize="0"/>
          <p:nvPr/>
        </p:nvPicPr>
        <p:blipFill>
          <a:blip r:embed="rId3">
            <a:alphaModFix/>
          </a:blip>
          <a:stretch>
            <a:fillRect/>
          </a:stretch>
        </p:blipFill>
        <p:spPr>
          <a:xfrm>
            <a:off x="155575" y="67392"/>
            <a:ext cx="1826526" cy="327425"/>
          </a:xfrm>
          <a:prstGeom prst="rect">
            <a:avLst/>
          </a:prstGeom>
          <a:noFill/>
          <a:ln>
            <a:noFill/>
          </a:ln>
        </p:spPr>
      </p:pic>
      <p:sp>
        <p:nvSpPr>
          <p:cNvPr id="4" name="AutoShape 2" descr="Image of "/>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pic>
        <p:nvPicPr>
          <p:cNvPr id="5" name="Picture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613698" y="703008"/>
            <a:ext cx="5855754" cy="4367101"/>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Google Shape;136;p31"/>
          <p:cNvSpPr txBox="1"/>
          <p:nvPr/>
        </p:nvSpPr>
        <p:spPr>
          <a:xfrm>
            <a:off x="155575" y="288872"/>
            <a:ext cx="8772000" cy="5130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1" i="0" u="none" strike="noStrike" cap="none" dirty="0">
                <a:solidFill>
                  <a:srgbClr val="434343"/>
                </a:solidFill>
                <a:latin typeface="Google Sans"/>
                <a:ea typeface="Google Sans"/>
                <a:cs typeface="Google Sans"/>
                <a:sym typeface="Google Sans"/>
              </a:rPr>
              <a:t>Process flow diagram or Use-case diagram</a:t>
            </a:r>
            <a:endParaRPr sz="1800" b="1" i="0" u="none" strike="noStrike" cap="none" dirty="0">
              <a:solidFill>
                <a:srgbClr val="434343"/>
              </a:solidFill>
              <a:latin typeface="Google Sans"/>
              <a:ea typeface="Google Sans"/>
              <a:cs typeface="Google Sans"/>
              <a:sym typeface="Google Sans"/>
            </a:endParaRPr>
          </a:p>
        </p:txBody>
      </p:sp>
      <p:pic>
        <p:nvPicPr>
          <p:cNvPr id="137" name="Google Shape;137;p31" title="Group 2200185.png"/>
          <p:cNvPicPr preferRelativeResize="0"/>
          <p:nvPr/>
        </p:nvPicPr>
        <p:blipFill>
          <a:blip r:embed="rId3">
            <a:alphaModFix/>
          </a:blip>
          <a:stretch>
            <a:fillRect/>
          </a:stretch>
        </p:blipFill>
        <p:spPr>
          <a:xfrm>
            <a:off x="155575" y="67392"/>
            <a:ext cx="1826526" cy="327425"/>
          </a:xfrm>
          <a:prstGeom prst="rect">
            <a:avLst/>
          </a:prstGeom>
          <a:noFill/>
          <a:ln>
            <a:noFill/>
          </a:ln>
        </p:spPr>
      </p:pic>
      <p:sp>
        <p:nvSpPr>
          <p:cNvPr id="4" name="AutoShape 2" descr="Image of "/>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pic>
        <p:nvPicPr>
          <p:cNvPr id="2" name="Picture 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68838" y="689675"/>
            <a:ext cx="6486525" cy="4370522"/>
          </a:xfrm>
          <a:prstGeom prst="rect">
            <a:avLst/>
          </a:prstGeom>
        </p:spPr>
      </p:pic>
    </p:spTree>
    <p:extLst>
      <p:ext uri="{BB962C8B-B14F-4D97-AF65-F5344CB8AC3E}">
        <p14:creationId xmlns:p14="http://schemas.microsoft.com/office/powerpoint/2010/main" val="25551553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sp>
        <p:nvSpPr>
          <p:cNvPr id="148" name="Google Shape;148;p33"/>
          <p:cNvSpPr txBox="1"/>
          <p:nvPr/>
        </p:nvSpPr>
        <p:spPr>
          <a:xfrm>
            <a:off x="159800" y="438538"/>
            <a:ext cx="8820900" cy="598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1" i="0" u="none" strike="noStrike" cap="none" dirty="0" smtClean="0">
                <a:solidFill>
                  <a:srgbClr val="434343"/>
                </a:solidFill>
                <a:latin typeface="Google Sans"/>
                <a:ea typeface="Google Sans"/>
                <a:cs typeface="Google Sans"/>
                <a:sym typeface="Google Sans"/>
              </a:rPr>
              <a:t>Tech Stack</a:t>
            </a:r>
            <a:endParaRPr sz="1800" b="1" i="0" u="none" strike="noStrike" cap="none" dirty="0">
              <a:solidFill>
                <a:srgbClr val="434343"/>
              </a:solidFill>
              <a:latin typeface="Google Sans"/>
              <a:ea typeface="Google Sans"/>
              <a:cs typeface="Google Sans"/>
              <a:sym typeface="Google Sans"/>
            </a:endParaRPr>
          </a:p>
        </p:txBody>
      </p:sp>
      <p:pic>
        <p:nvPicPr>
          <p:cNvPr id="149" name="Google Shape;149;p33" title="Group 2200185.png"/>
          <p:cNvPicPr preferRelativeResize="0"/>
          <p:nvPr/>
        </p:nvPicPr>
        <p:blipFill>
          <a:blip r:embed="rId3">
            <a:alphaModFix/>
          </a:blip>
          <a:stretch>
            <a:fillRect/>
          </a:stretch>
        </p:blipFill>
        <p:spPr>
          <a:xfrm>
            <a:off x="159800" y="174175"/>
            <a:ext cx="1826526" cy="327425"/>
          </a:xfrm>
          <a:prstGeom prst="rect">
            <a:avLst/>
          </a:prstGeom>
          <a:noFill/>
          <a:ln>
            <a:noFill/>
          </a:ln>
        </p:spPr>
      </p:pic>
      <p:sp>
        <p:nvSpPr>
          <p:cNvPr id="3" name="Rectangle 2"/>
          <p:cNvSpPr/>
          <p:nvPr/>
        </p:nvSpPr>
        <p:spPr>
          <a:xfrm>
            <a:off x="338913" y="811562"/>
            <a:ext cx="8702612" cy="4278094"/>
          </a:xfrm>
          <a:prstGeom prst="rect">
            <a:avLst/>
          </a:prstGeom>
        </p:spPr>
        <p:txBody>
          <a:bodyPr wrap="square">
            <a:spAutoFit/>
          </a:bodyPr>
          <a:lstStyle/>
          <a:p>
            <a:r>
              <a:rPr lang="en-US" sz="1500" b="1" dirty="0" smtClean="0">
                <a:solidFill>
                  <a:schemeClr val="tx1"/>
                </a:solidFill>
                <a:latin typeface="-apple-system"/>
              </a:rPr>
              <a:t>Frontend</a:t>
            </a:r>
            <a:endParaRPr lang="en-US" sz="1500" b="1" dirty="0">
              <a:solidFill>
                <a:schemeClr val="tx1"/>
              </a:solidFill>
              <a:latin typeface="-apple-system"/>
            </a:endParaRPr>
          </a:p>
          <a:p>
            <a:pPr lvl="0" eaLnBrk="0" fontAlgn="base" hangingPunct="0">
              <a:spcBef>
                <a:spcPct val="0"/>
              </a:spcBef>
              <a:spcAft>
                <a:spcPct val="0"/>
              </a:spcAft>
              <a:buClrTx/>
              <a:buFontTx/>
              <a:buChar char="•"/>
            </a:pPr>
            <a:r>
              <a:rPr lang="en-US" sz="1500" b="1" dirty="0"/>
              <a:t>React.js</a:t>
            </a:r>
            <a:r>
              <a:rPr lang="en-US" sz="1500" dirty="0"/>
              <a:t>: A component-based library used to build a dynamic, high-performance single-page application (SPA</a:t>
            </a:r>
            <a:r>
              <a:rPr lang="en-US" sz="1500" dirty="0" smtClean="0"/>
              <a:t>).</a:t>
            </a:r>
          </a:p>
          <a:p>
            <a:pPr lvl="0" eaLnBrk="0" fontAlgn="base" hangingPunct="0">
              <a:spcBef>
                <a:spcPct val="0"/>
              </a:spcBef>
              <a:spcAft>
                <a:spcPct val="0"/>
              </a:spcAft>
              <a:buClrTx/>
              <a:buFontTx/>
              <a:buChar char="•"/>
            </a:pPr>
            <a:r>
              <a:rPr lang="en-US" sz="1500" b="1" dirty="0"/>
              <a:t>Tailwind CSS</a:t>
            </a:r>
            <a:r>
              <a:rPr lang="en-US" sz="1500" dirty="0"/>
              <a:t>: A utility-first CSS framework that enables rapid UI development and consistent, responsive design</a:t>
            </a:r>
            <a:r>
              <a:rPr lang="en-US" sz="1500" dirty="0" smtClean="0"/>
              <a:t>.</a:t>
            </a:r>
          </a:p>
          <a:p>
            <a:pPr lvl="0" eaLnBrk="0" fontAlgn="base" hangingPunct="0">
              <a:spcBef>
                <a:spcPct val="0"/>
              </a:spcBef>
              <a:spcAft>
                <a:spcPct val="0"/>
              </a:spcAft>
              <a:buClrTx/>
              <a:buFontTx/>
              <a:buChar char="•"/>
            </a:pPr>
            <a:r>
              <a:rPr lang="en-US" sz="1500" b="1" dirty="0"/>
              <a:t>React Router Dom</a:t>
            </a:r>
            <a:r>
              <a:rPr lang="en-US" sz="1500" dirty="0"/>
              <a:t>: A routing library used to manage navigation and URL states in a single-page application</a:t>
            </a:r>
            <a:r>
              <a:rPr lang="en-US" sz="1500" dirty="0" smtClean="0"/>
              <a:t>.</a:t>
            </a:r>
          </a:p>
          <a:p>
            <a:pPr lvl="0" eaLnBrk="0" fontAlgn="base" hangingPunct="0">
              <a:spcBef>
                <a:spcPct val="0"/>
              </a:spcBef>
              <a:spcAft>
                <a:spcPct val="0"/>
              </a:spcAft>
              <a:buClrTx/>
              <a:buFontTx/>
              <a:buChar char="•"/>
            </a:pPr>
            <a:r>
              <a:rPr lang="en-US" sz="1500" b="1" dirty="0" err="1" smtClean="0"/>
              <a:t>Axios</a:t>
            </a:r>
            <a:r>
              <a:rPr lang="en-US" sz="1500" dirty="0"/>
              <a:t>: The promise-based HTTP client used to communicate with your Backend API</a:t>
            </a:r>
            <a:r>
              <a:rPr lang="en-US" sz="1500" dirty="0" smtClean="0"/>
              <a:t>.</a:t>
            </a:r>
            <a:endParaRPr lang="en-US" sz="1500" dirty="0">
              <a:solidFill>
                <a:schemeClr val="tx1"/>
              </a:solidFill>
              <a:latin typeface="-apple-system"/>
            </a:endParaRPr>
          </a:p>
          <a:p>
            <a:pPr>
              <a:buFont typeface="Arial" panose="020B0604020202020204" pitchFamily="34" charset="0"/>
              <a:buChar char="•"/>
            </a:pPr>
            <a:endParaRPr lang="en-US" sz="1500" dirty="0" smtClean="0">
              <a:solidFill>
                <a:schemeClr val="tx1"/>
              </a:solidFill>
              <a:latin typeface="-apple-system"/>
            </a:endParaRPr>
          </a:p>
          <a:p>
            <a:r>
              <a:rPr lang="en-US" sz="1500" b="1" dirty="0" smtClean="0">
                <a:solidFill>
                  <a:schemeClr val="tx1"/>
                </a:solidFill>
                <a:latin typeface="-apple-system"/>
              </a:rPr>
              <a:t>Backend</a:t>
            </a:r>
            <a:endParaRPr lang="en-US" sz="1500" b="1" dirty="0">
              <a:solidFill>
                <a:schemeClr val="tx1"/>
              </a:solidFill>
              <a:latin typeface="-apple-system"/>
            </a:endParaRPr>
          </a:p>
          <a:p>
            <a:pPr>
              <a:buFont typeface="Arial" panose="020B0604020202020204" pitchFamily="34" charset="0"/>
              <a:buChar char="•"/>
            </a:pPr>
            <a:r>
              <a:rPr lang="en-US" sz="1500" b="1" dirty="0"/>
              <a:t>Node.js</a:t>
            </a:r>
            <a:r>
              <a:rPr lang="en-US" sz="1500" dirty="0"/>
              <a:t>: The runtime environment that executes JavaScript on the server</a:t>
            </a:r>
            <a:endParaRPr lang="en-US" sz="1500" dirty="0" smtClean="0">
              <a:solidFill>
                <a:schemeClr val="tx1"/>
              </a:solidFill>
              <a:latin typeface="-apple-system"/>
            </a:endParaRPr>
          </a:p>
          <a:p>
            <a:pPr>
              <a:buFont typeface="Arial" panose="020B0604020202020204" pitchFamily="34" charset="0"/>
              <a:buChar char="•"/>
            </a:pPr>
            <a:r>
              <a:rPr lang="en-US" sz="1500" b="1" dirty="0"/>
              <a:t>Express.js</a:t>
            </a:r>
            <a:r>
              <a:rPr lang="en-US" sz="1500" dirty="0"/>
              <a:t>: The web framework used to handle routing, </a:t>
            </a:r>
            <a:r>
              <a:rPr lang="en-US" sz="1500" dirty="0" smtClean="0"/>
              <a:t>middleware</a:t>
            </a:r>
          </a:p>
          <a:p>
            <a:pPr>
              <a:buFont typeface="Arial" panose="020B0604020202020204" pitchFamily="34" charset="0"/>
              <a:buChar char="•"/>
            </a:pPr>
            <a:r>
              <a:rPr lang="en-US" sz="1500" b="1" dirty="0" err="1"/>
              <a:t>MongoDB</a:t>
            </a:r>
            <a:r>
              <a:rPr lang="en-US" sz="1500" dirty="0"/>
              <a:t>: A </a:t>
            </a:r>
            <a:r>
              <a:rPr lang="en-US" sz="1500" dirty="0" err="1"/>
              <a:t>NoSQL</a:t>
            </a:r>
            <a:r>
              <a:rPr lang="en-US" sz="1500" dirty="0"/>
              <a:t> document database designed for flexible, high-volume data storage</a:t>
            </a:r>
            <a:r>
              <a:rPr lang="en-US" sz="1500" dirty="0" smtClean="0"/>
              <a:t>.</a:t>
            </a:r>
          </a:p>
          <a:p>
            <a:pPr>
              <a:buFont typeface="Arial" panose="020B0604020202020204" pitchFamily="34" charset="0"/>
              <a:buChar char="•"/>
            </a:pPr>
            <a:r>
              <a:rPr lang="en-US" sz="1500" b="1" dirty="0" smtClean="0"/>
              <a:t>Mongoose</a:t>
            </a:r>
            <a:r>
              <a:rPr lang="en-US" sz="1500" dirty="0"/>
              <a:t>: An ODM library providing a schema-based solution to model application data</a:t>
            </a:r>
            <a:r>
              <a:rPr lang="en-US" sz="1500" dirty="0" smtClean="0"/>
              <a:t>.</a:t>
            </a:r>
          </a:p>
          <a:p>
            <a:pPr>
              <a:buFont typeface="Arial" panose="020B0604020202020204" pitchFamily="34" charset="0"/>
              <a:buChar char="•"/>
            </a:pPr>
            <a:r>
              <a:rPr lang="en-US" sz="1500" b="1" dirty="0" err="1"/>
              <a:t>Redis</a:t>
            </a:r>
            <a:r>
              <a:rPr lang="en-US" sz="1500" dirty="0"/>
              <a:t>: An in-memory data store utilized as a high-speed caching layer to minimize database latency and accelerate data retrieval.</a:t>
            </a:r>
            <a:endParaRPr lang="en-US" sz="1500" dirty="0">
              <a:solidFill>
                <a:schemeClr val="tx1"/>
              </a:solidFill>
              <a:latin typeface="-apple-system"/>
            </a:endParaRPr>
          </a:p>
          <a:p>
            <a:pPr>
              <a:buFont typeface="Arial" panose="020B0604020202020204" pitchFamily="34" charset="0"/>
              <a:buChar char="•"/>
            </a:pPr>
            <a:r>
              <a:rPr lang="en-US" sz="1500" b="1" dirty="0"/>
              <a:t>Socket.io</a:t>
            </a:r>
            <a:r>
              <a:rPr lang="en-US" sz="1500" dirty="0"/>
              <a:t>: A specialized library for bidirectional, event-based communication to enable real-time updates between the server and the client.</a:t>
            </a:r>
            <a:endParaRPr lang="en-US" sz="1500" dirty="0">
              <a:solidFill>
                <a:schemeClr val="tx1"/>
              </a:solidFill>
              <a:latin typeface="-apple-system"/>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34"/>
          <p:cNvSpPr txBox="1"/>
          <p:nvPr/>
        </p:nvSpPr>
        <p:spPr>
          <a:xfrm>
            <a:off x="227649" y="572381"/>
            <a:ext cx="8723100" cy="598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1" i="0" u="none" strike="noStrike" cap="none" dirty="0">
                <a:solidFill>
                  <a:srgbClr val="434343"/>
                </a:solidFill>
                <a:latin typeface="Google Sans"/>
                <a:ea typeface="Google Sans"/>
                <a:cs typeface="Google Sans"/>
                <a:sym typeface="Google Sans"/>
              </a:rPr>
              <a:t>Snapshots of the MVP</a:t>
            </a:r>
            <a:endParaRPr sz="1800" b="1" i="0" u="none" strike="noStrike" cap="none" dirty="0">
              <a:solidFill>
                <a:srgbClr val="434343"/>
              </a:solidFill>
              <a:latin typeface="Google Sans"/>
              <a:ea typeface="Google Sans"/>
              <a:cs typeface="Google Sans"/>
              <a:sym typeface="Google Sans"/>
            </a:endParaRPr>
          </a:p>
        </p:txBody>
      </p:sp>
      <p:pic>
        <p:nvPicPr>
          <p:cNvPr id="155" name="Google Shape;155;p34" title="Group 2200185.png"/>
          <p:cNvPicPr preferRelativeResize="0"/>
          <p:nvPr/>
        </p:nvPicPr>
        <p:blipFill>
          <a:blip r:embed="rId3">
            <a:alphaModFix/>
          </a:blip>
          <a:stretch>
            <a:fillRect/>
          </a:stretch>
        </p:blipFill>
        <p:spPr>
          <a:xfrm>
            <a:off x="159800" y="174175"/>
            <a:ext cx="1826526" cy="327425"/>
          </a:xfrm>
          <a:prstGeom prst="rect">
            <a:avLst/>
          </a:prstGeom>
          <a:noFill/>
          <a:ln>
            <a:noFill/>
          </a:ln>
        </p:spPr>
      </p:pic>
      <p:sp>
        <p:nvSpPr>
          <p:cNvPr id="4" name="AutoShape 2" descr="blob:https://web.whatsapp.com/b6278d53-a789-4308-b936-fd01b10e064d"/>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 name="AutoShape 4" descr="blob:https://web.whatsapp.com/b6278d53-a789-4308-b936-fd01b10e064d"/>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7" name="AutoShape 8" descr="blob:https://web.whatsapp.com/b6278d53-a789-4308-b936-fd01b10e064d"/>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pic>
        <p:nvPicPr>
          <p:cNvPr id="9" name="Picture 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12775" y="1023078"/>
            <a:ext cx="7704649" cy="4013872"/>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00738" y="54244"/>
            <a:ext cx="8981269" cy="5021451"/>
          </a:xfrm>
          <a:prstGeom prst="rect">
            <a:avLst/>
          </a:prstGeom>
        </p:spPr>
      </p:pic>
    </p:spTree>
    <p:extLst>
      <p:ext uri="{BB962C8B-B14F-4D97-AF65-F5344CB8AC3E}">
        <p14:creationId xmlns:p14="http://schemas.microsoft.com/office/powerpoint/2010/main" val="16815766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1" y="91482"/>
            <a:ext cx="8726214" cy="4977131"/>
          </a:xfrm>
          <a:prstGeom prst="rect">
            <a:avLst/>
          </a:prstGeom>
        </p:spPr>
      </p:pic>
    </p:spTree>
    <p:extLst>
      <p:ext uri="{BB962C8B-B14F-4D97-AF65-F5344CB8AC3E}">
        <p14:creationId xmlns:p14="http://schemas.microsoft.com/office/powerpoint/2010/main" val="31697001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1303" y="118241"/>
            <a:ext cx="8797159" cy="4910959"/>
          </a:xfrm>
          <a:prstGeom prst="rect">
            <a:avLst/>
          </a:prstGeom>
        </p:spPr>
      </p:pic>
    </p:spTree>
    <p:extLst>
      <p:ext uri="{BB962C8B-B14F-4D97-AF65-F5344CB8AC3E}">
        <p14:creationId xmlns:p14="http://schemas.microsoft.com/office/powerpoint/2010/main" val="14874606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4367" y="78828"/>
            <a:ext cx="8623736" cy="5009493"/>
          </a:xfrm>
          <a:prstGeom prst="rect">
            <a:avLst/>
          </a:prstGeom>
        </p:spPr>
      </p:pic>
    </p:spTree>
    <p:extLst>
      <p:ext uri="{BB962C8B-B14F-4D97-AF65-F5344CB8AC3E}">
        <p14:creationId xmlns:p14="http://schemas.microsoft.com/office/powerpoint/2010/main" val="2161261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8241" y="134006"/>
            <a:ext cx="8946931" cy="4871545"/>
          </a:xfrm>
          <a:prstGeom prst="rect">
            <a:avLst/>
          </a:prstGeom>
        </p:spPr>
      </p:pic>
    </p:spTree>
    <p:extLst>
      <p:ext uri="{BB962C8B-B14F-4D97-AF65-F5344CB8AC3E}">
        <p14:creationId xmlns:p14="http://schemas.microsoft.com/office/powerpoint/2010/main" val="12105025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p35"/>
          <p:cNvSpPr txBox="1"/>
          <p:nvPr/>
        </p:nvSpPr>
        <p:spPr>
          <a:xfrm>
            <a:off x="249900" y="501600"/>
            <a:ext cx="8894100" cy="6963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1" i="0" u="none" strike="noStrike" cap="none" dirty="0">
                <a:solidFill>
                  <a:srgbClr val="434343"/>
                </a:solidFill>
                <a:latin typeface="Google Sans"/>
                <a:ea typeface="Google Sans"/>
                <a:cs typeface="Google Sans"/>
                <a:sym typeface="Google Sans"/>
              </a:rPr>
              <a:t>Additional Details/Future Development (if any</a:t>
            </a:r>
            <a:r>
              <a:rPr lang="en-GB" sz="1800" b="1" i="0" u="none" strike="noStrike" cap="none" dirty="0" smtClean="0">
                <a:solidFill>
                  <a:srgbClr val="434343"/>
                </a:solidFill>
                <a:latin typeface="Google Sans"/>
                <a:ea typeface="Google Sans"/>
                <a:cs typeface="Google Sans"/>
                <a:sym typeface="Google Sans"/>
              </a:rPr>
              <a:t>)</a:t>
            </a:r>
          </a:p>
          <a:p>
            <a:pPr marL="0" marR="0" lvl="0" indent="0" algn="l" rtl="0">
              <a:lnSpc>
                <a:spcPct val="100000"/>
              </a:lnSpc>
              <a:spcBef>
                <a:spcPts val="0"/>
              </a:spcBef>
              <a:spcAft>
                <a:spcPts val="0"/>
              </a:spcAft>
              <a:buClr>
                <a:srgbClr val="000000"/>
              </a:buClr>
              <a:buSzPts val="1800"/>
              <a:buFont typeface="Arial"/>
              <a:buNone/>
            </a:pPr>
            <a:endParaRPr lang="en-GB" sz="1800" b="1" dirty="0">
              <a:solidFill>
                <a:srgbClr val="434343"/>
              </a:solidFill>
              <a:latin typeface="Google Sans"/>
              <a:ea typeface="Google Sans"/>
              <a:cs typeface="Google Sans"/>
              <a:sym typeface="Google Sans"/>
            </a:endParaRPr>
          </a:p>
          <a:p>
            <a:r>
              <a:rPr lang="en-US" b="1" dirty="0" smtClean="0"/>
              <a:t>1. AI-Powered Behavioral Recommendations</a:t>
            </a:r>
          </a:p>
          <a:p>
            <a:r>
              <a:rPr lang="en-US" b="1" dirty="0"/>
              <a:t>Predictive Search Intent:</a:t>
            </a:r>
            <a:r>
              <a:rPr lang="en-US" dirty="0"/>
              <a:t> Using Natural Language Processing (NLP) to map broad queries like "summer party outfit" to specific product categories, moving beyond simple keyword matching to understand true shopper intent</a:t>
            </a:r>
            <a:r>
              <a:rPr lang="en-US" dirty="0" smtClean="0"/>
              <a:t>.</a:t>
            </a:r>
          </a:p>
          <a:p>
            <a:r>
              <a:rPr lang="en-US" b="1" dirty="0" smtClean="0"/>
              <a:t>2. Smart Inventory &amp; Price Optimization</a:t>
            </a:r>
          </a:p>
          <a:p>
            <a:r>
              <a:rPr lang="en-US" b="1" dirty="0" smtClean="0"/>
              <a:t>Demand Forecasting:</a:t>
            </a:r>
            <a:r>
              <a:rPr lang="en-US" dirty="0" smtClean="0"/>
              <a:t> AI models that analyze sales trends to alert sellers when stock is likely to run out before it happens.</a:t>
            </a:r>
          </a:p>
          <a:p>
            <a:r>
              <a:rPr lang="en-US" b="1" dirty="0" smtClean="0"/>
              <a:t>Dynamic Pricing:</a:t>
            </a:r>
            <a:r>
              <a:rPr lang="en-US" dirty="0" smtClean="0"/>
              <a:t> Automatically adjusting prices based on market demand, competitor pricing, and stock levels to maximize seller revenue.</a:t>
            </a:r>
          </a:p>
          <a:p>
            <a:r>
              <a:rPr lang="en-US" b="1" dirty="0"/>
              <a:t>3</a:t>
            </a:r>
            <a:r>
              <a:rPr lang="en-US" b="1" dirty="0" smtClean="0"/>
              <a:t>. Automated Content Generation for Sellers</a:t>
            </a:r>
          </a:p>
          <a:p>
            <a:r>
              <a:rPr lang="en-US" b="1" dirty="0" smtClean="0"/>
              <a:t>One-Click Listings:</a:t>
            </a:r>
            <a:r>
              <a:rPr lang="en-US" dirty="0" smtClean="0"/>
              <a:t> Using AI to generate professional product descriptions and optimized titles from a single uploaded product image.</a:t>
            </a:r>
          </a:p>
          <a:p>
            <a:r>
              <a:rPr lang="en-US" b="1" dirty="0" smtClean="0"/>
              <a:t>Smart Image Enhancement:</a:t>
            </a:r>
            <a:r>
              <a:rPr lang="en-US" dirty="0" smtClean="0"/>
              <a:t> Automatically removing backgrounds and improving lighting for seller-uploaded photos to maintain a premium UI.</a:t>
            </a:r>
          </a:p>
          <a:p>
            <a:r>
              <a:rPr lang="en-US" b="1" dirty="0" smtClean="0"/>
              <a:t>4.Conversion-Driven </a:t>
            </a:r>
            <a:r>
              <a:rPr lang="en-US" b="1" dirty="0"/>
              <a:t>Search Ranking </a:t>
            </a:r>
            <a:endParaRPr lang="en-US" b="1" dirty="0" smtClean="0"/>
          </a:p>
          <a:p>
            <a:r>
              <a:rPr lang="en-US" b="1" dirty="0" smtClean="0"/>
              <a:t>Sales-Velocity </a:t>
            </a:r>
            <a:r>
              <a:rPr lang="en-US" b="1" dirty="0"/>
              <a:t>Ranking (Buying Ratio)</a:t>
            </a:r>
            <a:r>
              <a:rPr lang="en-US" dirty="0"/>
              <a:t>: Implementing a Learning-to-Rank (LTR) model that reorders search results based on the "Buying Ratio" (Conversion Rate). Products with higher historical sales-per-view are boosted to the top, ensuring users see products that are most likely to satisfy their purchase intent.</a:t>
            </a:r>
          </a:p>
          <a:p>
            <a:endParaRPr lang="en-US" dirty="0" smtClean="0"/>
          </a:p>
          <a:p>
            <a:pPr marL="0" marR="0" lvl="0" indent="0" algn="l" rtl="0">
              <a:lnSpc>
                <a:spcPct val="100000"/>
              </a:lnSpc>
              <a:spcBef>
                <a:spcPts val="0"/>
              </a:spcBef>
              <a:spcAft>
                <a:spcPts val="0"/>
              </a:spcAft>
              <a:buClr>
                <a:srgbClr val="000000"/>
              </a:buClr>
              <a:buSzPts val="1800"/>
              <a:buFont typeface="Arial"/>
              <a:buNone/>
            </a:pPr>
            <a:endParaRPr sz="1300" b="1" i="0" u="none" strike="noStrike" cap="none" dirty="0">
              <a:solidFill>
                <a:srgbClr val="434343"/>
              </a:solidFill>
              <a:latin typeface="Google Sans"/>
              <a:ea typeface="Google Sans"/>
              <a:cs typeface="Google Sans"/>
              <a:sym typeface="Google Sans"/>
            </a:endParaRPr>
          </a:p>
        </p:txBody>
      </p:sp>
      <p:pic>
        <p:nvPicPr>
          <p:cNvPr id="161" name="Google Shape;161;p35" title="Group 2200185.png"/>
          <p:cNvPicPr preferRelativeResize="0"/>
          <p:nvPr/>
        </p:nvPicPr>
        <p:blipFill>
          <a:blip r:embed="rId3">
            <a:alphaModFix/>
          </a:blip>
          <a:stretch>
            <a:fillRect/>
          </a:stretch>
        </p:blipFill>
        <p:spPr>
          <a:xfrm>
            <a:off x="159800" y="174175"/>
            <a:ext cx="1826526" cy="32742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p36"/>
          <p:cNvSpPr txBox="1"/>
          <p:nvPr/>
        </p:nvSpPr>
        <p:spPr>
          <a:xfrm>
            <a:off x="146600" y="843000"/>
            <a:ext cx="8833200" cy="6354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1" i="0" u="none" strike="noStrike" cap="none" dirty="0">
                <a:solidFill>
                  <a:srgbClr val="434343"/>
                </a:solidFill>
                <a:latin typeface="Google Sans"/>
                <a:ea typeface="Google Sans"/>
                <a:cs typeface="Google Sans"/>
                <a:sym typeface="Google Sans"/>
              </a:rPr>
              <a:t>Provide links to your:</a:t>
            </a:r>
            <a:endParaRPr sz="1800" b="1" i="0" u="none" strike="noStrike" cap="none" dirty="0">
              <a:solidFill>
                <a:srgbClr val="434343"/>
              </a:solidFill>
              <a:latin typeface="Google Sans"/>
              <a:ea typeface="Google Sans"/>
              <a:cs typeface="Google Sans"/>
              <a:sym typeface="Google Sans"/>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dirty="0">
              <a:solidFill>
                <a:srgbClr val="434343"/>
              </a:solidFill>
              <a:latin typeface="Google Sans"/>
              <a:ea typeface="Google Sans"/>
              <a:cs typeface="Google Sans"/>
              <a:sym typeface="Google Sans"/>
            </a:endParaRPr>
          </a:p>
          <a:p>
            <a:pPr marL="457200" lvl="0" indent="-342900">
              <a:buClr>
                <a:srgbClr val="434343"/>
              </a:buClr>
              <a:buSzPts val="1800"/>
              <a:buFont typeface="Google Sans"/>
              <a:buAutoNum type="arabicPeriod"/>
            </a:pPr>
            <a:r>
              <a:rPr lang="en-GB" sz="1800" b="1" i="0" u="none" strike="noStrike" cap="none" dirty="0">
                <a:solidFill>
                  <a:srgbClr val="434343"/>
                </a:solidFill>
                <a:latin typeface="Google Sans"/>
                <a:ea typeface="Google Sans"/>
                <a:cs typeface="Google Sans"/>
                <a:sym typeface="Google Sans"/>
              </a:rPr>
              <a:t>GitHub Public </a:t>
            </a:r>
            <a:r>
              <a:rPr lang="en-GB" sz="1800" b="1" dirty="0">
                <a:solidFill>
                  <a:srgbClr val="434343"/>
                </a:solidFill>
                <a:latin typeface="Google Sans"/>
                <a:ea typeface="Google Sans"/>
                <a:cs typeface="Google Sans"/>
                <a:sym typeface="Google Sans"/>
              </a:rPr>
              <a:t>Repository (https://github.com/manasdevX/ShopEasy)</a:t>
            </a:r>
            <a:endParaRPr sz="1800" b="1" i="0" u="none" strike="noStrike" cap="none" dirty="0">
              <a:solidFill>
                <a:srgbClr val="434343"/>
              </a:solidFill>
              <a:latin typeface="Google Sans"/>
              <a:ea typeface="Google Sans"/>
              <a:cs typeface="Google Sans"/>
              <a:sym typeface="Google Sans"/>
            </a:endParaRPr>
          </a:p>
          <a:p>
            <a:pPr marL="457200" lvl="0" indent="-342900">
              <a:buClr>
                <a:srgbClr val="434343"/>
              </a:buClr>
              <a:buSzPts val="1800"/>
              <a:buFont typeface="Google Sans"/>
              <a:buAutoNum type="arabicPeriod"/>
            </a:pPr>
            <a:r>
              <a:rPr lang="en-GB" sz="1800" b="1" i="0" u="none" strike="noStrike" cap="none" dirty="0">
                <a:solidFill>
                  <a:srgbClr val="434343"/>
                </a:solidFill>
                <a:latin typeface="Google Sans"/>
                <a:ea typeface="Google Sans"/>
                <a:cs typeface="Google Sans"/>
                <a:sym typeface="Google Sans"/>
              </a:rPr>
              <a:t>Demo Video Link </a:t>
            </a:r>
            <a:r>
              <a:rPr lang="en-GB" sz="1800" b="1" dirty="0">
                <a:solidFill>
                  <a:srgbClr val="434343"/>
                </a:solidFill>
                <a:latin typeface="Google Sans"/>
                <a:ea typeface="Google Sans"/>
                <a:cs typeface="Google Sans"/>
                <a:sym typeface="Google Sans"/>
              </a:rPr>
              <a:t>(https://drive.google.com/file/d/15XV0SK08kflwiejQJ_insFnd8XfidkGf/view?usp=drive_link)</a:t>
            </a:r>
            <a:endParaRPr sz="1800" b="1" i="0" u="none" strike="noStrike" cap="none" dirty="0">
              <a:solidFill>
                <a:srgbClr val="434343"/>
              </a:solidFill>
              <a:latin typeface="Google Sans"/>
              <a:ea typeface="Google Sans"/>
              <a:cs typeface="Google Sans"/>
              <a:sym typeface="Google Sans"/>
            </a:endParaRPr>
          </a:p>
          <a:p>
            <a:pPr marL="457200" lvl="0" indent="-342900">
              <a:buClr>
                <a:srgbClr val="434343"/>
              </a:buClr>
              <a:buSzPts val="1800"/>
              <a:buFont typeface="Google Sans"/>
              <a:buAutoNum type="arabicPeriod"/>
            </a:pPr>
            <a:r>
              <a:rPr lang="en-GB" sz="1800" b="1" i="0" u="none" strike="noStrike" cap="none" dirty="0">
                <a:solidFill>
                  <a:srgbClr val="434343"/>
                </a:solidFill>
                <a:latin typeface="Google Sans"/>
                <a:ea typeface="Google Sans"/>
                <a:cs typeface="Google Sans"/>
                <a:sym typeface="Google Sans"/>
              </a:rPr>
              <a:t>MVP </a:t>
            </a:r>
            <a:r>
              <a:rPr lang="en-GB" sz="1800" b="1" dirty="0">
                <a:solidFill>
                  <a:srgbClr val="434343"/>
                </a:solidFill>
                <a:latin typeface="Google Sans"/>
                <a:ea typeface="Google Sans"/>
                <a:cs typeface="Google Sans"/>
                <a:sym typeface="Google Sans"/>
              </a:rPr>
              <a:t>Link(https://shop-easy-livid.vercel.app</a:t>
            </a:r>
            <a:r>
              <a:rPr lang="en-GB" sz="1800" b="1" dirty="0" smtClean="0">
                <a:solidFill>
                  <a:srgbClr val="434343"/>
                </a:solidFill>
                <a:latin typeface="Google Sans"/>
                <a:ea typeface="Google Sans"/>
                <a:cs typeface="Google Sans"/>
                <a:sym typeface="Google Sans"/>
              </a:rPr>
              <a:t>/)</a:t>
            </a:r>
            <a:endParaRPr sz="1800" b="1" i="0" u="none" strike="noStrike" cap="none" dirty="0">
              <a:solidFill>
                <a:srgbClr val="434343"/>
              </a:solidFill>
              <a:latin typeface="Google Sans"/>
              <a:ea typeface="Google Sans"/>
              <a:cs typeface="Google Sans"/>
              <a:sym typeface="Google Sans"/>
            </a:endParaRPr>
          </a:p>
        </p:txBody>
      </p:sp>
      <p:pic>
        <p:nvPicPr>
          <p:cNvPr id="167" name="Google Shape;167;p36" title="Group 2200185.png"/>
          <p:cNvPicPr preferRelativeResize="0"/>
          <p:nvPr/>
        </p:nvPicPr>
        <p:blipFill>
          <a:blip r:embed="rId3">
            <a:alphaModFix/>
          </a:blip>
          <a:stretch>
            <a:fillRect/>
          </a:stretch>
        </p:blipFill>
        <p:spPr>
          <a:xfrm>
            <a:off x="159800" y="174175"/>
            <a:ext cx="1826526" cy="32742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76"/>
        <p:cNvGrpSpPr/>
        <p:nvPr/>
      </p:nvGrpSpPr>
      <p:grpSpPr>
        <a:xfrm>
          <a:off x="0" y="0"/>
          <a:ext cx="0" cy="0"/>
          <a:chOff x="0" y="0"/>
          <a:chExt cx="0" cy="0"/>
        </a:xfrm>
      </p:grpSpPr>
      <p:sp>
        <p:nvSpPr>
          <p:cNvPr id="177" name="Google Shape;177;p38"/>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p>
            <a:pPr marL="0" lvl="0" indent="0" algn="ctr" rtl="0">
              <a:lnSpc>
                <a:spcPct val="100000"/>
              </a:lnSpc>
              <a:spcBef>
                <a:spcPts val="0"/>
              </a:spcBef>
              <a:spcAft>
                <a:spcPts val="0"/>
              </a:spcAft>
              <a:buSzPts val="5200"/>
              <a:buNone/>
            </a:pPr>
            <a:endParaRPr dirty="0"/>
          </a:p>
        </p:txBody>
      </p:sp>
      <p:sp>
        <p:nvSpPr>
          <p:cNvPr id="178" name="Google Shape;178;p38"/>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p>
            <a:pPr marL="0" lvl="0" indent="0" algn="ctr" rtl="0">
              <a:lnSpc>
                <a:spcPct val="100000"/>
              </a:lnSpc>
              <a:spcBef>
                <a:spcPts val="0"/>
              </a:spcBef>
              <a:spcAft>
                <a:spcPts val="0"/>
              </a:spcAft>
              <a:buSzPts val="2800"/>
              <a:buNone/>
            </a:pPr>
            <a:endParaRPr dirty="0"/>
          </a:p>
        </p:txBody>
      </p:sp>
      <p:pic>
        <p:nvPicPr>
          <p:cNvPr id="179" name="Google Shape;179;p38" title="tq slide techsprint.png"/>
          <p:cNvPicPr preferRelativeResize="0"/>
          <p:nvPr/>
        </p:nvPicPr>
        <p:blipFill rotWithShape="1">
          <a:blip r:embed="rId3">
            <a:alphaModFix/>
          </a:blip>
          <a:srcRect/>
          <a:stretch/>
        </p:blipFill>
        <p:spPr>
          <a:xfrm>
            <a:off x="0" y="0"/>
            <a:ext cx="9144000" cy="5143500"/>
          </a:xfrm>
          <a:prstGeom prst="rect">
            <a:avLst/>
          </a:prstGeom>
          <a:noFill/>
          <a:ln>
            <a:noFill/>
          </a:ln>
        </p:spPr>
      </p:pic>
      <p:sp>
        <p:nvSpPr>
          <p:cNvPr id="180" name="Google Shape;180;p38"/>
          <p:cNvSpPr txBox="1"/>
          <p:nvPr/>
        </p:nvSpPr>
        <p:spPr>
          <a:xfrm>
            <a:off x="343275" y="3962950"/>
            <a:ext cx="3712800" cy="9390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GB" sz="4900" b="1" dirty="0">
                <a:solidFill>
                  <a:schemeClr val="dk1"/>
                </a:solidFill>
                <a:latin typeface="Google Sans"/>
                <a:ea typeface="Google Sans"/>
                <a:cs typeface="Google Sans"/>
                <a:sym typeface="Google Sans"/>
              </a:rPr>
              <a:t>Thank you!</a:t>
            </a:r>
            <a:endParaRPr sz="4500" b="1" dirty="0"/>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1792</TotalTime>
  <Words>866</Words>
  <Application>Microsoft Office PowerPoint</Application>
  <PresentationFormat>On-screen Show (16:9)</PresentationFormat>
  <Paragraphs>73</Paragraphs>
  <Slides>17</Slides>
  <Notes>13</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17</vt:i4>
      </vt:variant>
    </vt:vector>
  </HeadingPairs>
  <TitlesOfParts>
    <vt:vector size="22" baseType="lpstr">
      <vt:lpstr>Google Sans</vt:lpstr>
      <vt:lpstr>Arial</vt:lpstr>
      <vt:lpstr>-apple-system</vt:lpstr>
      <vt:lpstr>Simple Light</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ASUS</dc:creator>
  <cp:lastModifiedBy>Microsoft account</cp:lastModifiedBy>
  <cp:revision>27</cp:revision>
  <dcterms:modified xsi:type="dcterms:W3CDTF">2026-01-22T13:07:54Z</dcterms:modified>
</cp:coreProperties>
</file>